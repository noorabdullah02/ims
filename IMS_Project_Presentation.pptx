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8BDF8"/>
                </a:solidFill>
              </a:rPr>
              <a:t>IMS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Next-Gen Institutional Management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Elevating Academic Governance through Modern Engineering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Outline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Introduction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Literature Review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Problem Statement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Objectives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Methodology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Result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Future Work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Budget for the website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Conclusion</a:t>
            </a:r>
            <a:pPr indent="0" marL="0">
              <a:lnSpc>
                <a:spcPts val="3500"/>
              </a:lnSpc>
              <a:buNone/>
            </a:pPr>
            <a:r>
              <a:rPr lang="en-US" sz="2200" dirty="0">
                <a:solidFill>
                  <a:srgbClr val="333333"/>
                </a:solidFill>
              </a:rPr>
              <a:t>Reference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Introduction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What is IMS?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A comprehensive, modern academic platform designed to revolutionize educational institution management.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Target Audience: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Students, Teachers, Coordinators, Dept Heads, Finance Officers, and Super Admins.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Core Philosophy: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Lightning-fast performance, premium UI/UX, enterprise-grade security, and real-time updates.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Literature Review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Traditional Academic Portals:</a:t>
            </a:r>
            <a:endParaRPr lang="en-US" sz="1800" dirty="0"/>
          </a:p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 Built on monolithic, legacy technologies from the early 2000s.</a:t>
            </a:r>
            <a:endParaRPr lang="en-US" sz="1800" dirty="0"/>
          </a:p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 Lack of mobile responsiveness, making access difficult on smartphones.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Segregated Workflows:</a:t>
            </a:r>
            <a:endParaRPr lang="en-US" sz="1800" dirty="0"/>
          </a:p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 Attendance, grading, fees, and study materials are often scattered across disparate systems.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Security and Real-time Processing:</a:t>
            </a:r>
            <a:endParaRPr lang="en-US" sz="1800" dirty="0"/>
          </a:p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 Outdated authentication mechanisms and batched updates leading to slow data propagation.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Problem Statement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Current university management systems face significant operational challenges: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User Experience: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Slow, cluttered, and confusing interfaces that frustrate users.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Inefficiency: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Manual processes for attendance marking, payment tracking, and admit card issuance.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Data Silos: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No unified database, making comprehensive analytics and auditing impossible.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Communication Gaps: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Lack of real-time notifications for important academic events and financial updates.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Objectives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Operational Excellence: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Reduce administrative overhead by 60% and automate core academic processes.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Enhanced User Experience: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Deliver a mobile-first, intuitive interface with &lt;2s page transitions.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Unified Governance: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Consolidate attendance, results, materials, scheduling, and finance into one platform.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Robust Security &amp; Scalability: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Implement dual-token JWT authentication and cloud-ready infrastructure for 50,000+ users.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69A1"/>
                </a:solidFill>
              </a:rPr>
              <a:t>System Architecture &amp; Tech Stack: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Frontend: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Vite, Vanilla JS, Tailwind CSS, GSAP, and Three.js for modular shell rendering and animations.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Backend: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Node.js with Express.js RESTful API, adhering to MVC architecture.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Database: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PostgreSQL with Drizzle ORM for type-safe schema and scalable data storage.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Real-Time &amp; Integration: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Socket.IO for live events, Cloudinary for media, and Nodemailer for email services.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Development Process: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Phased agile approach (Foundation -&gt; Academic Core -&gt; Institutional Features -&gt; Finance).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Result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69A1"/>
                </a:solidFill>
              </a:rPr>
              <a:t>A Fully Integrated Academic Platform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Role-Based Dashboards: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Tailored interfaces for Students, Teachers, and Administrators.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Smart Automation: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Automated attendance tracking, result processing, and admit card generation.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Financial Transparency: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Real-time payment tracking and intelligent advance payment rollover systems.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AI &amp; Real-Time Ready: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Vapi AI voice/text assistant integrated alongside Socket.IO notifications.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Future 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AI and Machine Learning Integration: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Predictive analytics for student performance and drop-out risks.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Advanced Mobile App: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Developing native iOS and Android applications with offline capabilities.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Multi-language Support: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Expanding localization to support diverse institutional requirements.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5661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Alumni Network Module: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 dedicated portal for connecting current students with alumni for mentorship.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Budget for the Website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Estimated Annual Infrastructure &amp; Service Costs: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Cloud Hosting (AWS/Vercel):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~$1,200 - $2,500/year (Based on traffic/load).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Database Management (PostgreSQL):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~$600 - $1,200/year (Managed instances).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Media &amp; Asset Storage (Cloudinary):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~$500/year (For heavy document/image uploads).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AI &amp; APIs (Vapi AI, Email Services):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~$800/year (Usage-based pricing).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0233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Maintenance &amp; Security: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Ongoing IT personnel and security audits.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Conclusion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69A1"/>
                </a:solidFill>
              </a:rPr>
              <a:t>IMS fundamentally transforms how academic institutions operate.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Centralizes Data: 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Moves away from fragmented systems into a single source of truth.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Empowers Users: 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Provides real-time analytics, mobile access, and automated governance.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56616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Scalable Foundation: 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Built on modern web technologies ensuring longevity and adaptability for future expansions.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Reference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</a:rPr>
              <a:t>Project Repository: 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https://github.com/NoorAbdullah02/IMS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Tech Stack Documentation: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555555"/>
                </a:solidFill>
              </a:rPr>
              <a:t>Vite: https://vitejs.dev/</a:t>
            </a:r>
            <a:pPr indent="0" marL="0">
              <a:buNone/>
            </a:pPr>
            <a:r>
              <a:rPr lang="en-US" sz="1800" dirty="0">
                <a:solidFill>
                  <a:srgbClr val="555555"/>
                </a:solidFill>
              </a:rPr>
              <a:t>Express.js: https://expressjs.com/</a:t>
            </a:r>
            <a:pPr indent="0" marL="0">
              <a:buNone/>
            </a:pPr>
            <a:r>
              <a:rPr lang="en-US" sz="1800" dirty="0">
                <a:solidFill>
                  <a:srgbClr val="555555"/>
                </a:solidFill>
              </a:rPr>
              <a:t>PostgreSQL: https://www.postgresql.org/</a:t>
            </a:r>
            <a:pPr indent="0" marL="0">
              <a:buNone/>
            </a:pPr>
            <a:r>
              <a:rPr lang="en-US" sz="1800" dirty="0">
                <a:solidFill>
                  <a:srgbClr val="555555"/>
                </a:solidFill>
              </a:rPr>
              <a:t>Socket.IO: https://socket.io/</a:t>
            </a:r>
            <a:pPr indent="0" marL="0">
              <a:buNone/>
            </a:pPr>
            <a:r>
              <a:rPr lang="en-US" sz="1800" dirty="0">
                <a:solidFill>
                  <a:srgbClr val="555555"/>
                </a:solidFill>
              </a:rPr>
              <a:t>Drizzle ORM: https://orm.drizzle.team/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IMS README &amp; Architectural Blueprints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BAUET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IMS: Next-Gen Institutional Management System</dc:title>
  <dc:subject>IMS Presentation</dc:subject>
  <dc:creator>NoorAbdullah02</dc:creator>
  <cp:lastModifiedBy>NoorAbdullah02</cp:lastModifiedBy>
  <cp:revision>2</cp:revision>
  <dcterms:created xsi:type="dcterms:W3CDTF">2026-04-30T02:51:59Z</dcterms:created>
  <dcterms:modified xsi:type="dcterms:W3CDTF">2026-04-30T02:51:59Z</dcterms:modified>
</cp:coreProperties>
</file>